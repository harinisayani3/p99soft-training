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emovePersonalInfoOnSave="1" autoCompressPictures="0">
  <p:sldMasterIdLst>
    <p:sldMasterId id="2147483749" r:id="rId4"/>
  </p:sldMasterIdLst>
  <p:notesMasterIdLst>
    <p:notesMasterId r:id="rId9"/>
  </p:notesMasterIdLst>
  <p:handoutMasterIdLst>
    <p:handoutMasterId r:id="rId10"/>
  </p:handoutMasterIdLst>
  <p:sldIdLst>
    <p:sldId id="256" r:id="rId5"/>
    <p:sldId id="268" r:id="rId6"/>
    <p:sldId id="269" r:id="rId7"/>
    <p:sldId id="270" r:id="rId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2" name="Author" initials="A" lastIdx="1" clrIdx="1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66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41" autoAdjust="0"/>
  </p:normalViewPr>
  <p:slideViewPr>
    <p:cSldViewPr snapToGrid="0">
      <p:cViewPr varScale="1">
        <p:scale>
          <a:sx n="60" d="100"/>
          <a:sy n="60" d="100"/>
        </p:scale>
        <p:origin x="76" y="256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68" d="100"/>
          <a:sy n="68" d="100"/>
        </p:scale>
        <p:origin x="3288" y="324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viewProps" Target="viewProp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presProps" Target="presProp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commentAuthors" Target="commentAuthors.xml"/><Relationship Id="rId5" Type="http://schemas.openxmlformats.org/officeDocument/2006/relationships/slide" Target="slides/slide1.xml"/><Relationship Id="rId15" Type="http://schemas.openxmlformats.org/officeDocument/2006/relationships/tableStyles" Target="tableStyles.xml"/><Relationship Id="rId10" Type="http://schemas.openxmlformats.org/officeDocument/2006/relationships/handoutMaster" Target="handoutMasters/handoutMaster1.xml"/><Relationship Id="rId4" Type="http://schemas.openxmlformats.org/officeDocument/2006/relationships/slideMaster" Target="slideMasters/slideMaster1.xml"/><Relationship Id="rId9" Type="http://schemas.openxmlformats.org/officeDocument/2006/relationships/notesMaster" Target="notesMasters/notesMaster1.xml"/><Relationship Id="rId14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C703FB87-790C-4850-A90C-12C5FF4B94DC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8127921-F9C4-44F3-AC5F-130B6A406C02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6E59275-AFE1-4999-B78A-D0D76B9F2B0B}" type="datetimeFigureOut">
              <a:rPr lang="en-US" smtClean="0"/>
              <a:t>4/20/2026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765E047-F1CB-4066-A459-9EDC95F2E610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8A77EF5-5277-4BAF-8BB4-2E02103988E5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B668C69-0C3E-40A2-B4A0-B2C8B71D8E3A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5158627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3EADD7A-FE61-48EE-BE0E-8546E5401374}" type="datetimeFigureOut">
              <a:rPr lang="en-US" smtClean="0"/>
              <a:t>4/20/2026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E000EEB-8338-48D7-8EE8-EE0082EF760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6777018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E000EEB-8338-48D7-8EE8-EE0082EF7602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0533827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70693" y="1769540"/>
            <a:ext cx="9440034" cy="1828801"/>
          </a:xfrm>
        </p:spPr>
        <p:txBody>
          <a:bodyPr anchor="b">
            <a:normAutofit/>
          </a:bodyPr>
          <a:lstStyle>
            <a:lvl1pPr algn="ctr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0693" y="3598339"/>
            <a:ext cx="9440034" cy="1049867"/>
          </a:xfrm>
        </p:spPr>
        <p:txBody>
          <a:bodyPr anchor="t"/>
          <a:lstStyle>
            <a:lvl1pPr marL="0" indent="0" algn="ctr">
              <a:buNone/>
              <a:defRPr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AD347D-5ACD-4C99-B74B-A9C85AD731AF}" type="datetimeFigureOut">
              <a:rPr lang="en-US" smtClean="0"/>
              <a:t>4/20/2026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7717377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4/20/2026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3188505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1761067"/>
            <a:ext cx="9590550" cy="1828813"/>
          </a:xfrm>
        </p:spPr>
        <p:txBody>
          <a:bodyPr anchor="b"/>
          <a:lstStyle>
            <a:lvl1pPr algn="ctr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3589879"/>
            <a:ext cx="9590550" cy="1507054"/>
          </a:xfrm>
        </p:spPr>
        <p:txBody>
          <a:bodyPr anchor="t"/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4/20/2026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5684371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13795" y="1732449"/>
            <a:ext cx="5060497" cy="4058750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02892" y="1732449"/>
            <a:ext cx="5064665" cy="4058751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4/20/2026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8724151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Picture 19" descr="Slate-V2-HD-comp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3795" y="1734506"/>
            <a:ext cx="5089072" cy="4148769"/>
          </a:xfrm>
          <a:prstGeom prst="rect">
            <a:avLst/>
          </a:prstGeom>
        </p:spPr>
      </p:pic>
      <p:pic>
        <p:nvPicPr>
          <p:cNvPr id="21" name="Picture 20" descr="Slate-V2-HD-comp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78485" y="1734506"/>
            <a:ext cx="5089072" cy="4148769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05872" y="1835254"/>
            <a:ext cx="4876344" cy="544884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05872" y="2380137"/>
            <a:ext cx="4876344" cy="3411063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94967" y="1835254"/>
            <a:ext cx="4895330" cy="544883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94967" y="2380137"/>
            <a:ext cx="4895330" cy="3411063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4/20/2026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1891434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4/20/2026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878141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4/20/2026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6135257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3706889" cy="182191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55633" y="609600"/>
            <a:ext cx="6411924" cy="518160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2431518"/>
            <a:ext cx="3706889" cy="3359681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4/20/2026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0966061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Picture 21" descr="Slate-V2-HD-vert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93665" y="609600"/>
            <a:ext cx="3584166" cy="5204832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923"/>
            <a:ext cx="5934949" cy="1829338"/>
          </a:xfrm>
        </p:spPr>
        <p:txBody>
          <a:bodyPr anchor="b">
            <a:noAutofit/>
          </a:bodyPr>
          <a:lstStyle>
            <a:lvl1pPr algn="ctr">
              <a:defRPr sz="32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442551" y="763702"/>
            <a:ext cx="3275751" cy="4912822"/>
          </a:xfr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2439261"/>
            <a:ext cx="5934949" cy="3376134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4/20/2026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6095442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 descr="Slate-V2-HD-pano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3883" y="547807"/>
            <a:ext cx="10141799" cy="3816806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806" y="4565255"/>
            <a:ext cx="10355326" cy="543472"/>
          </a:xfrm>
        </p:spPr>
        <p:txBody>
          <a:bodyPr anchor="b">
            <a:normAutofit/>
          </a:bodyPr>
          <a:lstStyle>
            <a:lvl1pPr algn="ctr"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69349" y="695009"/>
            <a:ext cx="9845346" cy="3525671"/>
          </a:xfr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2000"/>
            </a:lvl1pPr>
            <a:lvl2pPr marL="457200" indent="0">
              <a:buNone/>
              <a:defRPr sz="2000"/>
            </a:lvl2pPr>
            <a:lvl3pPr marL="914400" indent="0">
              <a:buNone/>
              <a:defRPr sz="20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5108728"/>
            <a:ext cx="10353762" cy="682472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4/20/2026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18451216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8437"/>
            <a:ext cx="10353762" cy="353434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4295180"/>
            <a:ext cx="10353763" cy="1501826"/>
          </a:xfrm>
        </p:spPr>
        <p:txBody>
          <a:bodyPr anchor="ctr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4/20/2026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46605989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600"/>
            <a:ext cx="9302752" cy="299290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610032"/>
            <a:ext cx="8752299" cy="532749"/>
          </a:xfrm>
        </p:spPr>
        <p:txBody>
          <a:bodyPr anchor="t">
            <a:normAutofit/>
          </a:bodyPr>
          <a:lstStyle>
            <a:lvl1pPr marL="0" indent="0" algn="r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4304353"/>
            <a:ext cx="10353763" cy="1489496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4/20/2026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1" name="TextBox 10"/>
          <p:cNvSpPr txBox="1"/>
          <p:nvPr/>
        </p:nvSpPr>
        <p:spPr>
          <a:xfrm>
            <a:off x="990600" y="88479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04716" y="292825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660956451"/>
      </p:ext>
    </p:extLst>
  </p:cSld>
  <p:clrMapOvr>
    <a:masterClrMapping/>
  </p:clrMapOvr>
  <p:hf sldNum="0"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4" y="2126942"/>
            <a:ext cx="10353763" cy="251183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84" y="4650556"/>
            <a:ext cx="10352199" cy="1140644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4/20/2026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60269919"/>
      </p:ext>
    </p:extLst>
  </p:cSld>
  <p:clrMapOvr>
    <a:masterClrMapping/>
  </p:clrMapOvr>
  <p:hf sldNum="0"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97045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913795" y="1885950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913795" y="2571750"/>
            <a:ext cx="3300984" cy="3219450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6711" y="1885950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441435" y="2571750"/>
            <a:ext cx="3300984" cy="3219450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66572" y="1885950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966572" y="2571750"/>
            <a:ext cx="3300984" cy="3219450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4/20/2026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00535745"/>
      </p:ext>
    </p:extLst>
  </p:cSld>
  <p:clrMapOvr>
    <a:masterClrMapping/>
  </p:clrMapOvr>
  <p:hf sldNum="0"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ate-V2-HD-3col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7962" y="1818214"/>
            <a:ext cx="3339972" cy="1847851"/>
          </a:xfrm>
          <a:prstGeom prst="rect">
            <a:avLst/>
          </a:prstGeom>
        </p:spPr>
      </p:pic>
      <p:pic>
        <p:nvPicPr>
          <p:cNvPr id="36" name="Picture 35" descr="Slate-V2-HD-3col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03800" y="1818214"/>
            <a:ext cx="3339972" cy="1847851"/>
          </a:xfrm>
          <a:prstGeom prst="rect">
            <a:avLst/>
          </a:prstGeom>
        </p:spPr>
      </p:pic>
      <p:pic>
        <p:nvPicPr>
          <p:cNvPr id="37" name="Picture 36" descr="Slate-V2-HD-3col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36051" y="1818214"/>
            <a:ext cx="3339972" cy="1847851"/>
          </a:xfrm>
          <a:prstGeom prst="rect">
            <a:avLst/>
          </a:prstGeom>
        </p:spPr>
      </p:pic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913794" y="609600"/>
            <a:ext cx="10353763" cy="97045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913795" y="3904106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018102" y="1938918"/>
            <a:ext cx="3092368" cy="160295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913795" y="4480368"/>
            <a:ext cx="3300984" cy="1310833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2788" y="3904106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545743" y="1939094"/>
            <a:ext cx="3092368" cy="160816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41435" y="4480367"/>
            <a:ext cx="3300984" cy="1310833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66697" y="3904106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075698" y="1934432"/>
            <a:ext cx="3092368" cy="160729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66572" y="4480365"/>
            <a:ext cx="3300984" cy="131083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4/20/2026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46174462"/>
      </p:ext>
    </p:extLst>
  </p:cSld>
  <p:clrMapOvr>
    <a:masterClrMapping/>
  </p:clrMapOvr>
  <p:hf sldNum="0" hdr="0" ft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4/20/2026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0304262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983068" y="609599"/>
            <a:ext cx="2284487" cy="5181601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13796" y="609599"/>
            <a:ext cx="7916872" cy="5181601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4/20/2026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0331201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970450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3795" y="1732449"/>
            <a:ext cx="10353762" cy="4058751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78736" y="58832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fld id="{4509A250-FF31-4206-8172-F9D3106AACB1}" type="datetimeFigureOut">
              <a:rPr lang="en-US" smtClean="0"/>
              <a:t>4/20/2026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913795" y="5883275"/>
            <a:ext cx="667286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14011" y="5883275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74038413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50" r:id="rId1"/>
    <p:sldLayoutId id="2147483751" r:id="rId2"/>
    <p:sldLayoutId id="2147483752" r:id="rId3"/>
    <p:sldLayoutId id="2147483753" r:id="rId4"/>
    <p:sldLayoutId id="2147483754" r:id="rId5"/>
    <p:sldLayoutId id="2147483755" r:id="rId6"/>
    <p:sldLayoutId id="2147483756" r:id="rId7"/>
    <p:sldLayoutId id="2147483757" r:id="rId8"/>
    <p:sldLayoutId id="2147483758" r:id="rId9"/>
    <p:sldLayoutId id="2147483759" r:id="rId10"/>
    <p:sldLayoutId id="2147483760" r:id="rId11"/>
    <p:sldLayoutId id="2147483761" r:id="rId12"/>
    <p:sldLayoutId id="2147483762" r:id="rId13"/>
    <p:sldLayoutId id="2147483763" r:id="rId14"/>
    <p:sldLayoutId id="2147483764" r:id="rId15"/>
    <p:sldLayoutId id="2147483765" r:id="rId16"/>
    <p:sldLayoutId id="2147483766" r:id="rId17"/>
  </p:sldLayoutIdLst>
  <p:hf sldNum="0" hdr="0" ftr="0" dt="0"/>
  <p:txStyles>
    <p:titleStyle>
      <a:lvl1pPr algn="ctr" defTabSz="457200" rtl="0" eaLnBrk="1" latinLnBrk="0" hangingPunct="1">
        <a:spcBef>
          <a:spcPct val="0"/>
        </a:spcBef>
        <a:buNone/>
        <a:defRPr sz="40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j-lt"/>
          <a:ea typeface="+mj-ea"/>
          <a:cs typeface="Trebuchet M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20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1pPr>
      <a:lvl2pPr marL="720000" indent="-270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"/>
        <a:defRPr sz="18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2pPr>
      <a:lvl3pPr marL="1026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6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3pPr>
      <a:lvl4pPr marL="1386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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4pPr>
      <a:lvl5pPr marL="1674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5pPr>
      <a:lvl6pPr marL="20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6pPr>
      <a:lvl7pPr marL="240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7pPr>
      <a:lvl8pPr marL="278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8pPr>
      <a:lvl9pPr marL="310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3">
            <a:duotone>
              <a:schemeClr val="bg2">
                <a:shade val="62000"/>
                <a:hueMod val="108000"/>
                <a:satMod val="164000"/>
                <a:lumMod val="69000"/>
              </a:schemeClr>
              <a:schemeClr val="bg2">
                <a:tint val="96000"/>
                <a:hueMod val="90000"/>
                <a:satMod val="130000"/>
                <a:lumMod val="134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30D32A-359B-41BB-9746-2CF3A21EEFF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867437" y="1287889"/>
            <a:ext cx="8461419" cy="4468968"/>
          </a:xfrm>
        </p:spPr>
        <p:txBody>
          <a:bodyPr>
            <a:normAutofit fontScale="90000"/>
          </a:bodyPr>
          <a:lstStyle/>
          <a:p>
            <a:r>
              <a:rPr lang="en-US" sz="9600" dirty="0">
                <a:solidFill>
                  <a:schemeClr val="tx1"/>
                </a:solidFill>
                <a:latin typeface="Comic Sans MS" panose="030F0702030302020204" pitchFamily="66" charset="0"/>
              </a:rPr>
              <a:t>What is EC2</a:t>
            </a:r>
            <a:br>
              <a:rPr lang="en-US" sz="9600" dirty="0">
                <a:solidFill>
                  <a:schemeClr val="tx1"/>
                </a:solidFill>
                <a:latin typeface="Comic Sans MS" panose="030F0702030302020204" pitchFamily="66" charset="0"/>
              </a:rPr>
            </a:br>
            <a:r>
              <a:rPr lang="en-US" sz="9600" dirty="0">
                <a:solidFill>
                  <a:schemeClr val="tx1"/>
                </a:solidFill>
                <a:latin typeface="Comic Sans MS" panose="030F0702030302020204" pitchFamily="66" charset="0"/>
              </a:rPr>
              <a:t>How to launch and connect</a:t>
            </a:r>
            <a:endParaRPr lang="ru-RU" sz="9600" dirty="0">
              <a:solidFill>
                <a:schemeClr val="tx1"/>
              </a:solidFill>
              <a:latin typeface="Comic Sans MS" panose="030F0702030302020204" pitchFamily="66" charset="0"/>
            </a:endParaRP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6318" y="120230"/>
            <a:ext cx="1928686" cy="23353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300092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73499" y="465598"/>
            <a:ext cx="7977335" cy="667744"/>
          </a:xfrm>
        </p:spPr>
        <p:txBody>
          <a:bodyPr>
            <a:normAutofit fontScale="90000"/>
          </a:bodyPr>
          <a:lstStyle/>
          <a:p>
            <a:r>
              <a:rPr lang="en-US" b="1" dirty="0">
                <a:solidFill>
                  <a:srgbClr val="FF6600"/>
                </a:solidFill>
                <a:latin typeface="Comic Sans MS" panose="030F0702030302020204" pitchFamily="66" charset="0"/>
              </a:rPr>
              <a:t>Elastic Compute Cloud (EC2)</a:t>
            </a:r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33397" y="1236819"/>
            <a:ext cx="2558603" cy="2171245"/>
          </a:xfrm>
        </p:spPr>
      </p:pic>
      <p:sp>
        <p:nvSpPr>
          <p:cNvPr id="6" name="Rectangle 5"/>
          <p:cNvSpPr/>
          <p:nvPr/>
        </p:nvSpPr>
        <p:spPr>
          <a:xfrm>
            <a:off x="515155" y="1597427"/>
            <a:ext cx="9118242" cy="563231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000" dirty="0">
                <a:solidFill>
                  <a:srgbClr val="FF6600"/>
                </a:solidFill>
                <a:latin typeface="Comic Sans MS" panose="030F0702030302020204" pitchFamily="66" charset="0"/>
                <a:ea typeface="Cambria Math" panose="02040503050406030204" pitchFamily="18" charset="0"/>
              </a:rPr>
              <a:t>Elastic Compute Cloud (EC2)</a:t>
            </a:r>
            <a:r>
              <a:rPr lang="en-US" sz="2000" dirty="0">
                <a:latin typeface="Comic Sans MS" panose="030F0702030302020204" pitchFamily="66" charset="0"/>
                <a:ea typeface="Cambria Math" panose="02040503050406030204" pitchFamily="18" charset="0"/>
              </a:rPr>
              <a:t> is  an Amazon web service that provides virtual server hosting in the cloud.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endParaRPr lang="en-US" sz="2000" dirty="0">
              <a:latin typeface="Comic Sans MS" panose="030F0702030302020204" pitchFamily="66" charset="0"/>
              <a:ea typeface="Cambria Math" panose="02040503050406030204" pitchFamily="18" charset="0"/>
            </a:endParaRP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000" dirty="0">
                <a:latin typeface="Comic Sans MS" panose="030F0702030302020204" pitchFamily="66" charset="0"/>
                <a:ea typeface="Cambria Math" panose="02040503050406030204" pitchFamily="18" charset="0"/>
              </a:rPr>
              <a:t>Server is also called as </a:t>
            </a:r>
            <a:r>
              <a:rPr lang="en-US" sz="2000" dirty="0">
                <a:solidFill>
                  <a:srgbClr val="FF6600"/>
                </a:solidFill>
                <a:latin typeface="Comic Sans MS" panose="030F0702030302020204" pitchFamily="66" charset="0"/>
                <a:ea typeface="Cambria Math" panose="02040503050406030204" pitchFamily="18" charset="0"/>
              </a:rPr>
              <a:t>Instance</a:t>
            </a:r>
            <a:r>
              <a:rPr lang="en-US" sz="2000" dirty="0">
                <a:latin typeface="Comic Sans MS" panose="030F0702030302020204" pitchFamily="66" charset="0"/>
                <a:ea typeface="Cambria Math" panose="02040503050406030204" pitchFamily="18" charset="0"/>
              </a:rPr>
              <a:t> in AWS.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endParaRPr lang="en-US" sz="2000" dirty="0">
              <a:latin typeface="Comic Sans MS" panose="030F0702030302020204" pitchFamily="66" charset="0"/>
              <a:ea typeface="Cambria Math" panose="02040503050406030204" pitchFamily="18" charset="0"/>
            </a:endParaRP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000" dirty="0">
                <a:latin typeface="Comic Sans MS" panose="030F0702030302020204" pitchFamily="66" charset="0"/>
                <a:ea typeface="Cambria Math" panose="02040503050406030204" pitchFamily="18" charset="0"/>
              </a:rPr>
              <a:t>An </a:t>
            </a:r>
            <a:r>
              <a:rPr lang="en-US" sz="2000" dirty="0">
                <a:solidFill>
                  <a:srgbClr val="FF6600"/>
                </a:solidFill>
                <a:latin typeface="Comic Sans MS" panose="030F0702030302020204" pitchFamily="66" charset="0"/>
                <a:ea typeface="Cambria Math" panose="02040503050406030204" pitchFamily="18" charset="0"/>
              </a:rPr>
              <a:t>Amazon  Machine Image</a:t>
            </a:r>
            <a:r>
              <a:rPr lang="en-US" sz="2000" b="1" dirty="0">
                <a:solidFill>
                  <a:srgbClr val="FF6600"/>
                </a:solidFill>
                <a:latin typeface="Comic Sans MS" panose="030F0702030302020204" pitchFamily="66" charset="0"/>
                <a:ea typeface="Cambria Math" panose="02040503050406030204" pitchFamily="18" charset="0"/>
              </a:rPr>
              <a:t> </a:t>
            </a:r>
            <a:r>
              <a:rPr lang="en-US" sz="2000" dirty="0">
                <a:solidFill>
                  <a:srgbClr val="FF6600"/>
                </a:solidFill>
                <a:latin typeface="Comic Sans MS" panose="030F0702030302020204" pitchFamily="66" charset="0"/>
                <a:ea typeface="Cambria Math" panose="02040503050406030204" pitchFamily="18" charset="0"/>
              </a:rPr>
              <a:t>(AMI)</a:t>
            </a:r>
            <a:r>
              <a:rPr lang="en-US" sz="2000" dirty="0">
                <a:latin typeface="Comic Sans MS" panose="030F0702030302020204" pitchFamily="66" charset="0"/>
                <a:ea typeface="Cambria Math" panose="02040503050406030204" pitchFamily="18" charset="0"/>
              </a:rPr>
              <a:t> is a template that contains the software configuration (operating system + packages ) required to launch your instance.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endParaRPr lang="en-US" sz="2000" dirty="0">
              <a:latin typeface="Comic Sans MS" panose="030F0702030302020204" pitchFamily="66" charset="0"/>
              <a:ea typeface="Cambria Math" panose="02040503050406030204" pitchFamily="18" charset="0"/>
            </a:endParaRP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000" dirty="0">
                <a:latin typeface="Comic Sans MS" panose="030F0702030302020204" pitchFamily="66" charset="0"/>
                <a:ea typeface="Cambria Math" panose="02040503050406030204" pitchFamily="18" charset="0"/>
              </a:rPr>
              <a:t>A </a:t>
            </a:r>
            <a:r>
              <a:rPr lang="en-US" sz="2000" dirty="0">
                <a:solidFill>
                  <a:srgbClr val="FF6600"/>
                </a:solidFill>
                <a:latin typeface="Comic Sans MS" panose="030F0702030302020204" pitchFamily="66" charset="0"/>
                <a:ea typeface="Cambria Math" panose="02040503050406030204" pitchFamily="18" charset="0"/>
              </a:rPr>
              <a:t>Keypair</a:t>
            </a:r>
            <a:r>
              <a:rPr lang="en-US" sz="2000" dirty="0">
                <a:latin typeface="Comic Sans MS" panose="030F0702030302020204" pitchFamily="66" charset="0"/>
                <a:ea typeface="Cambria Math" panose="02040503050406030204" pitchFamily="18" charset="0"/>
              </a:rPr>
              <a:t> is used to securely connect to Instance(Virtual Server).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endParaRPr lang="en-US" sz="2000" dirty="0">
              <a:latin typeface="Comic Sans MS" panose="030F0702030302020204" pitchFamily="66" charset="0"/>
              <a:ea typeface="Cambria Math" panose="02040503050406030204" pitchFamily="18" charset="0"/>
            </a:endParaRP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000" dirty="0">
                <a:latin typeface="Comic Sans MS" panose="030F0702030302020204" pitchFamily="66" charset="0"/>
                <a:ea typeface="Cambria Math" panose="02040503050406030204" pitchFamily="18" charset="0"/>
              </a:rPr>
              <a:t>A </a:t>
            </a:r>
            <a:r>
              <a:rPr lang="en-US" sz="2000" dirty="0">
                <a:solidFill>
                  <a:srgbClr val="FF6600"/>
                </a:solidFill>
                <a:latin typeface="Comic Sans MS" panose="030F0702030302020204" pitchFamily="66" charset="0"/>
                <a:ea typeface="Cambria Math" panose="02040503050406030204" pitchFamily="18" charset="0"/>
              </a:rPr>
              <a:t>security group</a:t>
            </a:r>
            <a:r>
              <a:rPr lang="en-US" sz="2000" dirty="0">
                <a:latin typeface="Comic Sans MS" panose="030F0702030302020204" pitchFamily="66" charset="0"/>
                <a:ea typeface="Cambria Math" panose="02040503050406030204" pitchFamily="18" charset="0"/>
              </a:rPr>
              <a:t> is a set of firewall rules that control the traffic for your instance.</a:t>
            </a:r>
          </a:p>
          <a:p>
            <a:endParaRPr lang="en-US" sz="2000" dirty="0">
              <a:latin typeface="Comic Sans MS" panose="030F0702030302020204" pitchFamily="66" charset="0"/>
              <a:ea typeface="Cambria Math" panose="02040503050406030204" pitchFamily="18" charset="0"/>
            </a:endParaRP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000" dirty="0">
                <a:latin typeface="Comic Sans MS" panose="030F0702030302020204" pitchFamily="66" charset="0"/>
                <a:ea typeface="Cambria Math" panose="02040503050406030204" pitchFamily="18" charset="0"/>
              </a:rPr>
              <a:t>A </a:t>
            </a:r>
            <a:r>
              <a:rPr lang="en-US" sz="2000" dirty="0">
                <a:solidFill>
                  <a:srgbClr val="FF6600"/>
                </a:solidFill>
                <a:latin typeface="Comic Sans MS" panose="030F0702030302020204" pitchFamily="66" charset="0"/>
                <a:ea typeface="Cambria Math" panose="02040503050406030204" pitchFamily="18" charset="0"/>
              </a:rPr>
              <a:t>Port</a:t>
            </a:r>
            <a:r>
              <a:rPr lang="en-US" sz="2000" dirty="0">
                <a:latin typeface="Comic Sans MS" panose="030F0702030302020204" pitchFamily="66" charset="0"/>
                <a:ea typeface="Cambria Math" panose="02040503050406030204" pitchFamily="18" charset="0"/>
              </a:rPr>
              <a:t> is a communication endpoint to exchange data between devices.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endParaRPr lang="en-US" sz="2000" dirty="0">
              <a:latin typeface="Comic Sans MS" panose="030F0702030302020204" pitchFamily="66" charset="0"/>
              <a:ea typeface="Cambria Math" panose="02040503050406030204" pitchFamily="18" charset="0"/>
            </a:endParaRP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000" dirty="0">
                <a:latin typeface="Comic Sans MS" panose="030F0702030302020204" pitchFamily="66" charset="0"/>
                <a:ea typeface="Cambria Math" panose="02040503050406030204" pitchFamily="18" charset="0"/>
              </a:rPr>
              <a:t>Port range is 0 - 65535 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endParaRPr lang="en-US" sz="2000" dirty="0">
              <a:latin typeface="Comic Sans MS" panose="030F0702030302020204" pitchFamily="66" charset="0"/>
              <a:ea typeface="Cambria Math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625983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421228" y="452718"/>
            <a:ext cx="7629606" cy="757896"/>
          </a:xfrm>
        </p:spPr>
        <p:txBody>
          <a:bodyPr/>
          <a:lstStyle/>
          <a:p>
            <a:r>
              <a:rPr lang="en-US" dirty="0">
                <a:solidFill>
                  <a:srgbClr val="FF6600"/>
                </a:solidFill>
                <a:latin typeface="Comic Sans MS" panose="030F0702030302020204" pitchFamily="66" charset="0"/>
              </a:rPr>
              <a:t> </a:t>
            </a:r>
            <a:r>
              <a:rPr lang="en-US" b="1" dirty="0">
                <a:solidFill>
                  <a:srgbClr val="FF6600"/>
                </a:solidFill>
                <a:latin typeface="Comic Sans MS" panose="030F0702030302020204" pitchFamily="66" charset="0"/>
                <a:ea typeface="Cambria Math" panose="02040503050406030204" pitchFamily="18" charset="0"/>
              </a:rPr>
              <a:t>EC2 Instance types</a:t>
            </a:r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42732" y="2056368"/>
            <a:ext cx="6697010" cy="3410426"/>
          </a:xfrm>
        </p:spPr>
      </p:pic>
    </p:spTree>
    <p:extLst>
      <p:ext uri="{BB962C8B-B14F-4D97-AF65-F5344CB8AC3E}">
        <p14:creationId xmlns:p14="http://schemas.microsoft.com/office/powerpoint/2010/main" val="167066141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421229" y="519103"/>
            <a:ext cx="8358388" cy="754157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4000" dirty="0">
                <a:solidFill>
                  <a:srgbClr val="FF6600"/>
                </a:solidFill>
                <a:latin typeface="Comic Sans MS" panose="030F0702030302020204" pitchFamily="66" charset="0"/>
              </a:rPr>
              <a:t>Steps to connect a Linux Server</a:t>
            </a:r>
          </a:p>
        </p:txBody>
      </p:sp>
      <p:sp>
        <p:nvSpPr>
          <p:cNvPr id="4" name="Rectangle 3"/>
          <p:cNvSpPr/>
          <p:nvPr/>
        </p:nvSpPr>
        <p:spPr>
          <a:xfrm>
            <a:off x="622057" y="2719245"/>
            <a:ext cx="3928056" cy="3107111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0000"/>
              </a:solidFill>
              <a:latin typeface="Comic Sans MS" panose="030F0702030302020204" pitchFamily="66" charset="0"/>
            </a:endParaRPr>
          </a:p>
        </p:txBody>
      </p:sp>
      <p:sp>
        <p:nvSpPr>
          <p:cNvPr id="8" name="Isosceles Triangle 7"/>
          <p:cNvSpPr/>
          <p:nvPr/>
        </p:nvSpPr>
        <p:spPr>
          <a:xfrm>
            <a:off x="1700321" y="5826356"/>
            <a:ext cx="1545465" cy="270456"/>
          </a:xfrm>
          <a:prstGeom prst="triangl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Comic Sans MS" panose="030F0702030302020204" pitchFamily="66" charset="0"/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1569671" y="3173090"/>
            <a:ext cx="1925516" cy="369332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dirty="0">
                <a:solidFill>
                  <a:schemeClr val="tx2">
                    <a:lumMod val="90000"/>
                  </a:schemeClr>
                </a:solidFill>
                <a:latin typeface="Comic Sans MS" panose="030F0702030302020204" pitchFamily="66" charset="0"/>
                <a:ea typeface="Cambria Math" panose="02040503050406030204" pitchFamily="18" charset="0"/>
              </a:rPr>
              <a:t>Download Putty</a:t>
            </a:r>
            <a:endParaRPr lang="en-US" b="0" cap="none" spc="0" dirty="0">
              <a:ln w="0"/>
              <a:solidFill>
                <a:srgbClr val="FF0000"/>
              </a:solidFill>
              <a:effectLst>
                <a:reflection blurRad="6350" stA="53000" endA="300" endPos="35500" dir="5400000" sy="-90000" algn="bl" rotWithShape="0"/>
              </a:effectLst>
              <a:latin typeface="Comic Sans MS" panose="030F0702030302020204" pitchFamily="66" charset="0"/>
            </a:endParaRPr>
          </a:p>
        </p:txBody>
      </p:sp>
      <p:sp>
        <p:nvSpPr>
          <p:cNvPr id="21" name="Rectangle 20"/>
          <p:cNvSpPr/>
          <p:nvPr/>
        </p:nvSpPr>
        <p:spPr>
          <a:xfrm rot="20837183">
            <a:off x="4857948" y="3192217"/>
            <a:ext cx="2254383" cy="40011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2000" dirty="0">
                <a:ln w="0"/>
                <a:solidFill>
                  <a:srgbClr val="FFFF0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Comic Sans MS" panose="030F0702030302020204" pitchFamily="66" charset="0"/>
                <a:ea typeface="Cambria Math" panose="02040503050406030204" pitchFamily="18" charset="0"/>
              </a:rPr>
              <a:t>Incoming Traffic</a:t>
            </a:r>
          </a:p>
        </p:txBody>
      </p:sp>
      <p:sp>
        <p:nvSpPr>
          <p:cNvPr id="22" name="Rectangle 21"/>
          <p:cNvSpPr/>
          <p:nvPr/>
        </p:nvSpPr>
        <p:spPr>
          <a:xfrm rot="196073">
            <a:off x="4903720" y="4476215"/>
            <a:ext cx="2274982" cy="40011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2000" b="1" dirty="0">
                <a:ln w="0"/>
                <a:solidFill>
                  <a:srgbClr val="FFFF0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Comic Sans MS" panose="030F0702030302020204" pitchFamily="66" charset="0"/>
                <a:ea typeface="Cambria Math" panose="02040503050406030204" pitchFamily="18" charset="0"/>
              </a:rPr>
              <a:t>Outgoing Traffic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320756" y="1900599"/>
            <a:ext cx="1959211" cy="40011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2000" dirty="0">
                <a:ln w="0"/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Comic Sans MS" panose="030F0702030302020204" pitchFamily="66" charset="0"/>
                <a:ea typeface="Cambria Math" panose="02040503050406030204" pitchFamily="18" charset="0"/>
              </a:rPr>
              <a:t>My Laptop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458216" y="2100654"/>
            <a:ext cx="1706417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2000" dirty="0">
                <a:ln w="0"/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Comic Sans MS" panose="030F0702030302020204" pitchFamily="66" charset="0"/>
                <a:ea typeface="Cambria Math" panose="02040503050406030204" pitchFamily="18" charset="0"/>
              </a:rPr>
              <a:t>Instance</a:t>
            </a:r>
          </a:p>
        </p:txBody>
      </p:sp>
      <p:sp>
        <p:nvSpPr>
          <p:cNvPr id="19" name="Isosceles Triangle 18"/>
          <p:cNvSpPr/>
          <p:nvPr/>
        </p:nvSpPr>
        <p:spPr>
          <a:xfrm>
            <a:off x="8619168" y="5850779"/>
            <a:ext cx="1545465" cy="270456"/>
          </a:xfrm>
          <a:prstGeom prst="triangle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Comic Sans MS" panose="030F0702030302020204" pitchFamily="66" charset="0"/>
            </a:endParaRPr>
          </a:p>
        </p:txBody>
      </p:sp>
      <p:sp>
        <p:nvSpPr>
          <p:cNvPr id="20" name="Rectangle 19"/>
          <p:cNvSpPr/>
          <p:nvPr/>
        </p:nvSpPr>
        <p:spPr>
          <a:xfrm>
            <a:off x="1553967" y="3665332"/>
            <a:ext cx="1925516" cy="369332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dirty="0">
                <a:solidFill>
                  <a:schemeClr val="tx2">
                    <a:lumMod val="90000"/>
                  </a:schemeClr>
                </a:solidFill>
                <a:latin typeface="Comic Sans MS" panose="030F0702030302020204" pitchFamily="66" charset="0"/>
                <a:ea typeface="Cambria Math" panose="02040503050406030204" pitchFamily="18" charset="0"/>
              </a:rPr>
              <a:t>Install Putty</a:t>
            </a:r>
            <a:endParaRPr lang="en-US" b="0" cap="none" spc="0" dirty="0">
              <a:ln w="0"/>
              <a:solidFill>
                <a:srgbClr val="FF0000"/>
              </a:solidFill>
              <a:effectLst>
                <a:reflection blurRad="6350" stA="53000" endA="300" endPos="35500" dir="5400000" sy="-90000" algn="bl" rotWithShape="0"/>
              </a:effectLst>
              <a:latin typeface="Comic Sans MS" panose="030F0702030302020204" pitchFamily="66" charset="0"/>
            </a:endParaRPr>
          </a:p>
        </p:txBody>
      </p:sp>
      <p:sp>
        <p:nvSpPr>
          <p:cNvPr id="23" name="Rectangle 22"/>
          <p:cNvSpPr/>
          <p:nvPr/>
        </p:nvSpPr>
        <p:spPr>
          <a:xfrm>
            <a:off x="1222398" y="4272800"/>
            <a:ext cx="2588654" cy="92333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dirty="0">
                <a:solidFill>
                  <a:schemeClr val="tx2">
                    <a:lumMod val="90000"/>
                  </a:schemeClr>
                </a:solidFill>
                <a:latin typeface="Comic Sans MS" panose="030F0702030302020204" pitchFamily="66" charset="0"/>
                <a:ea typeface="Cambria Math" panose="02040503050406030204" pitchFamily="18" charset="0"/>
              </a:rPr>
              <a:t>Paste Public </a:t>
            </a:r>
            <a:r>
              <a:rPr lang="en-US" dirty="0" err="1">
                <a:solidFill>
                  <a:schemeClr val="tx2">
                    <a:lumMod val="90000"/>
                  </a:schemeClr>
                </a:solidFill>
                <a:latin typeface="Comic Sans MS" panose="030F0702030302020204" pitchFamily="66" charset="0"/>
                <a:ea typeface="Cambria Math" panose="02040503050406030204" pitchFamily="18" charset="0"/>
              </a:rPr>
              <a:t>Ip</a:t>
            </a:r>
            <a:r>
              <a:rPr lang="en-US" dirty="0">
                <a:solidFill>
                  <a:schemeClr val="tx2">
                    <a:lumMod val="90000"/>
                  </a:schemeClr>
                </a:solidFill>
                <a:latin typeface="Comic Sans MS" panose="030F0702030302020204" pitchFamily="66" charset="0"/>
                <a:ea typeface="Cambria Math" panose="02040503050406030204" pitchFamily="18" charset="0"/>
              </a:rPr>
              <a:t> ,Private key and user name in Putty</a:t>
            </a:r>
            <a:endParaRPr lang="en-US" b="0" cap="none" spc="0" dirty="0">
              <a:ln w="0"/>
              <a:solidFill>
                <a:srgbClr val="FF0000"/>
              </a:solidFill>
              <a:effectLst>
                <a:reflection blurRad="6350" stA="53000" endA="300" endPos="35500" dir="5400000" sy="-90000" algn="bl" rotWithShape="0"/>
              </a:effectLst>
              <a:latin typeface="Comic Sans MS" panose="030F0702030302020204" pitchFamily="66" charset="0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7613264" y="2697064"/>
            <a:ext cx="3450076" cy="3129292"/>
          </a:xfrm>
          <a:prstGeom prst="round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Comic Sans MS" panose="030F0702030302020204" pitchFamily="66" charset="0"/>
            </a:endParaRPr>
          </a:p>
        </p:txBody>
      </p:sp>
      <p:sp>
        <p:nvSpPr>
          <p:cNvPr id="10" name="Oval 9"/>
          <p:cNvSpPr/>
          <p:nvPr/>
        </p:nvSpPr>
        <p:spPr>
          <a:xfrm>
            <a:off x="7420166" y="3007270"/>
            <a:ext cx="434683" cy="385002"/>
          </a:xfrm>
          <a:prstGeom prst="ellipse">
            <a:avLst/>
          </a:prstGeom>
          <a:solidFill>
            <a:schemeClr val="accent3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Comic Sans MS" panose="030F0702030302020204" pitchFamily="66" charset="0"/>
            </a:endParaRPr>
          </a:p>
        </p:txBody>
      </p:sp>
      <p:sp>
        <p:nvSpPr>
          <p:cNvPr id="24" name="Oval 23"/>
          <p:cNvSpPr/>
          <p:nvPr/>
        </p:nvSpPr>
        <p:spPr>
          <a:xfrm>
            <a:off x="7402637" y="4706571"/>
            <a:ext cx="434683" cy="385002"/>
          </a:xfrm>
          <a:prstGeom prst="ellipse">
            <a:avLst/>
          </a:prstGeom>
          <a:solidFill>
            <a:schemeClr val="accent3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Comic Sans MS" panose="030F0702030302020204" pitchFamily="66" charset="0"/>
            </a:endParaRPr>
          </a:p>
        </p:txBody>
      </p:sp>
      <p:sp>
        <p:nvSpPr>
          <p:cNvPr id="27" name="Rectangle 26"/>
          <p:cNvSpPr/>
          <p:nvPr/>
        </p:nvSpPr>
        <p:spPr>
          <a:xfrm>
            <a:off x="7321974" y="3053718"/>
            <a:ext cx="631064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1600" dirty="0" err="1">
                <a:ln w="0"/>
                <a:solidFill>
                  <a:srgbClr val="FF000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Comic Sans MS" panose="030F0702030302020204" pitchFamily="66" charset="0"/>
                <a:ea typeface="Cambria Math" panose="02040503050406030204" pitchFamily="18" charset="0"/>
              </a:rPr>
              <a:t>ssh</a:t>
            </a:r>
            <a:endParaRPr lang="en-US" sz="1600" dirty="0">
              <a:ln w="0"/>
              <a:solidFill>
                <a:srgbClr val="FF0000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Comic Sans MS" panose="030F0702030302020204" pitchFamily="66" charset="0"/>
              <a:ea typeface="Cambria Math" panose="02040503050406030204" pitchFamily="18" charset="0"/>
            </a:endParaRPr>
          </a:p>
        </p:txBody>
      </p:sp>
      <p:sp>
        <p:nvSpPr>
          <p:cNvPr id="28" name="Rectangle 27"/>
          <p:cNvSpPr/>
          <p:nvPr/>
        </p:nvSpPr>
        <p:spPr>
          <a:xfrm>
            <a:off x="7321974" y="4763645"/>
            <a:ext cx="631064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1600" dirty="0" err="1">
                <a:ln w="0"/>
                <a:solidFill>
                  <a:srgbClr val="FF000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Comic Sans MS" panose="030F0702030302020204" pitchFamily="66" charset="0"/>
                <a:ea typeface="Cambria Math" panose="02040503050406030204" pitchFamily="18" charset="0"/>
              </a:rPr>
              <a:t>ssh</a:t>
            </a:r>
            <a:endParaRPr lang="en-US" sz="1600" dirty="0">
              <a:ln w="0"/>
              <a:solidFill>
                <a:srgbClr val="FF0000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Comic Sans MS" panose="030F0702030302020204" pitchFamily="66" charset="0"/>
              <a:ea typeface="Cambria Math" panose="02040503050406030204" pitchFamily="18" charset="0"/>
            </a:endParaRPr>
          </a:p>
        </p:txBody>
      </p:sp>
      <p:cxnSp>
        <p:nvCxnSpPr>
          <p:cNvPr id="29" name="Straight Arrow Connector 28"/>
          <p:cNvCxnSpPr/>
          <p:nvPr/>
        </p:nvCxnSpPr>
        <p:spPr>
          <a:xfrm flipV="1">
            <a:off x="4604532" y="3152273"/>
            <a:ext cx="3032976" cy="81984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1" name="Straight Arrow Connector 30"/>
          <p:cNvCxnSpPr/>
          <p:nvPr/>
        </p:nvCxnSpPr>
        <p:spPr>
          <a:xfrm flipH="1" flipV="1">
            <a:off x="4578208" y="4734465"/>
            <a:ext cx="2855080" cy="211651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364059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1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8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4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0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3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8" grpId="0" animBg="1"/>
      <p:bldP spid="15" grpId="0"/>
      <p:bldP spid="21" grpId="0"/>
      <p:bldP spid="22" grpId="0"/>
      <p:bldP spid="25" grpId="0"/>
      <p:bldP spid="26" grpId="0"/>
      <p:bldP spid="19" grpId="0" animBg="1"/>
      <p:bldP spid="20" grpId="0"/>
      <p:bldP spid="23" grpId="0"/>
      <p:bldP spid="9" grpId="0" animBg="1"/>
      <p:bldP spid="10" grpId="0" animBg="1"/>
      <p:bldP spid="24" grpId="0" animBg="1"/>
      <p:bldP spid="27" grpId="0"/>
      <p:bldP spid="28" grpId="0"/>
    </p:bld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Slate">
  <a:themeElements>
    <a:clrScheme name="Slate">
      <a:dk1>
        <a:sysClr val="windowText" lastClr="000000"/>
      </a:dk1>
      <a:lt1>
        <a:sysClr val="window" lastClr="FFFFFF"/>
      </a:lt1>
      <a:dk2>
        <a:srgbClr val="212123"/>
      </a:dk2>
      <a:lt2>
        <a:srgbClr val="DADADA"/>
      </a:lt2>
      <a:accent1>
        <a:srgbClr val="BC451B"/>
      </a:accent1>
      <a:accent2>
        <a:srgbClr val="D3BA68"/>
      </a:accent2>
      <a:accent3>
        <a:srgbClr val="BB8640"/>
      </a:accent3>
      <a:accent4>
        <a:srgbClr val="AD9277"/>
      </a:accent4>
      <a:accent5>
        <a:srgbClr val="A55A43"/>
      </a:accent5>
      <a:accent6>
        <a:srgbClr val="AD9D7B"/>
      </a:accent6>
      <a:hlink>
        <a:srgbClr val="E98052"/>
      </a:hlink>
      <a:folHlink>
        <a:srgbClr val="F4B69B"/>
      </a:folHlink>
    </a:clrScheme>
    <a:fontScheme name="Slate">
      <a:majorFont>
        <a:latin typeface="Calisto MT" panose="02040603050505030304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Calisto MT" panose="02040603050505030304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late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0000"/>
                <a:lumMod val="90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63500" dist="25400" dir="5400000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76200" dist="38100" dir="5400000" rotWithShape="0">
              <a:srgbClr val="000000">
                <a:alpha val="7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 prst="hardEdge"/>
          </a:sp3d>
        </a:effectStyle>
      </a:effectStyleLst>
      <a:bgFillStyleLst>
        <a:solidFill>
          <a:schemeClr val="phClr"/>
        </a:solidFill>
        <a:solidFill>
          <a:schemeClr val="phClr"/>
        </a:solidFill>
        <a:blipFill rotWithShape="1">
          <a:blip xmlns:r="http://schemas.openxmlformats.org/officeDocument/2006/relationships" r:embed="rId1">
            <a:duotone>
              <a:schemeClr val="phClr">
                <a:shade val="80000"/>
                <a:lumMod val="80000"/>
              </a:schemeClr>
              <a:schemeClr val="phClr">
                <a:tint val="98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late" id="{C3F70B94-7CE9-428E-ADC1-3269CC2C3385}" vid="{3F2DE9A5-64E6-437C-A389-CC4477E817E8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12" ma:contentTypeDescription="Create a new document." ma:contentTypeScope="" ma:versionID="b385d60f68dd989dca1fdc827799d853">
  <xsd:schema xmlns:xsd="http://www.w3.org/2001/XMLSchema" xmlns:xs="http://www.w3.org/2001/XMLSchema" xmlns:p="http://schemas.microsoft.com/office/2006/metadata/properties" xmlns:ns2="71af3243-3dd4-4a8d-8c0d-dd76da1f02a5" xmlns:ns3="16c05727-aa75-4e4a-9b5f-8a80a1165891" targetNamespace="http://schemas.microsoft.com/office/2006/metadata/properties" ma:root="true" ma:fieldsID="1911b479caf7b199da365455750e4572" ns2:_="" ns3:_="">
    <xsd:import namespace="71af3243-3dd4-4a8d-8c0d-dd76da1f02a5"/>
    <xsd:import namespace="16c05727-aa75-4e4a-9b5f-8a80a116589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Statu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Status" ma:index="19" nillable="true" ma:displayName="Status" ma:default="Not started" ma:format="Dropdown" ma:internalName="Status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MediaServiceKeyPoints xmlns="71af3243-3dd4-4a8d-8c0d-dd76da1f02a5" xsi:nil="true"/>
    <Status xmlns="71af3243-3dd4-4a8d-8c0d-dd76da1f02a5">Not started</Status>
  </documentManagement>
</p:properties>
</file>

<file path=customXml/itemProps1.xml><?xml version="1.0" encoding="utf-8"?>
<ds:datastoreItem xmlns:ds="http://schemas.openxmlformats.org/officeDocument/2006/customXml" ds:itemID="{F4172B9F-030A-4864-9C8F-117B052D02C3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1af3243-3dd4-4a8d-8c0d-dd76da1f02a5"/>
    <ds:schemaRef ds:uri="16c05727-aa75-4e4a-9b5f-8a80a116589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D333AA69-F09C-4769-984A-89F31444738D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48C54328-0E3E-40FC-9B9C-E60E585EE030}">
  <ds:schemaRefs>
    <ds:schemaRef ds:uri="http://schemas.microsoft.com/office/2006/metadata/properties"/>
    <ds:schemaRef ds:uri="http://schemas.microsoft.com/office/infopath/2007/PartnerControls"/>
    <ds:schemaRef ds:uri="71af3243-3dd4-4a8d-8c0d-dd76da1f02a5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Slate</Template>
  <TotalTime>0</TotalTime>
  <Words>154</Words>
  <Application>Microsoft Office PowerPoint</Application>
  <PresentationFormat>Widescreen</PresentationFormat>
  <Paragraphs>27</Paragraphs>
  <Slides>4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10" baseType="lpstr">
      <vt:lpstr>Calibri</vt:lpstr>
      <vt:lpstr>Calisto MT</vt:lpstr>
      <vt:lpstr>Comic Sans MS</vt:lpstr>
      <vt:lpstr>Wingdings</vt:lpstr>
      <vt:lpstr>Wingdings 2</vt:lpstr>
      <vt:lpstr>Slate</vt:lpstr>
      <vt:lpstr>What is EC2 How to launch and connect</vt:lpstr>
      <vt:lpstr>Elastic Compute Cloud (EC2)</vt:lpstr>
      <vt:lpstr> EC2 Instance types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1</cp:revision>
  <dcterms:created xsi:type="dcterms:W3CDTF">2021-09-24T08:08:18Z</dcterms:created>
  <dcterms:modified xsi:type="dcterms:W3CDTF">2026-04-20T15:34:28Z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