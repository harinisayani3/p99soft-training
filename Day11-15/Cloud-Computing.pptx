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4630400" cy="8229600"/>
  <p:notesSz cx="8229600" cy="14630400"/>
  <p:embeddedFontLst>
    <p:embeddedFont>
      <p:font typeface="Lora"/>
      <p:regular r:id="rId22"/>
    </p:embeddedFont>
    <p:embeddedFont>
      <p:font typeface="Lora"/>
      <p:regular r:id="rId23"/>
    </p:embeddedFont>
    <p:embeddedFont>
      <p:font typeface="Lora"/>
      <p:regular r:id="rId24"/>
    </p:embeddedFont>
    <p:embeddedFont>
      <p:font typeface="Lora"/>
      <p:regular r:id="rId25"/>
    </p:embeddedFont>
    <p:embeddedFont>
      <p:font typeface="Source Sans 3"/>
      <p:regular r:id="rId26"/>
    </p:embeddedFont>
    <p:embeddedFont>
      <p:font typeface="Source Sans 3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3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7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slideLayout" Target="../slideLayouts/slideLayout1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6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447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58" y="179427"/>
            <a:ext cx="5247084" cy="78706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4124" y="339173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Cloud Computing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324124" y="445472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Introduction to Cloud &amp; Modern Infrastructure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4099" y="540187"/>
            <a:ext cx="8126730" cy="538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Traditional Infrastructure (On-Premises)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364099" y="1359813"/>
            <a:ext cx="11902083" cy="51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Traditional IT infrastructure requires organizations to purchase and maintain physical hardware on their own premises. This approach gives complete control but comes with significant overhead and scalability challenges.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801422" y="2572107"/>
            <a:ext cx="2156103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Physical Servers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364099" y="2925723"/>
            <a:ext cx="3593425" cy="51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Companies purchase hardware and install physical servers in their own facilities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2321" y="2035016"/>
            <a:ext cx="4165640" cy="4165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39602" y="2753439"/>
            <a:ext cx="274201" cy="342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9672757" y="2572107"/>
            <a:ext cx="2156103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Centers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672757" y="2925723"/>
            <a:ext cx="3593425" cy="51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Set up and maintain dedicated facilities with proper infrastructure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321" y="2035016"/>
            <a:ext cx="4165640" cy="4165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70808" y="3108008"/>
            <a:ext cx="274201" cy="342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9672757" y="4792385"/>
            <a:ext cx="2156103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Facility Management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9672757" y="5146000"/>
            <a:ext cx="3593425" cy="51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Handle cooling systems, power supply, and network connectivity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321" y="2035016"/>
            <a:ext cx="4165640" cy="4165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16240" y="5139214"/>
            <a:ext cx="274201" cy="342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150" dirty="0"/>
          </a:p>
        </p:txBody>
      </p:sp>
      <p:sp>
        <p:nvSpPr>
          <p:cNvPr id="16" name="Text 11"/>
          <p:cNvSpPr/>
          <p:nvPr/>
        </p:nvSpPr>
        <p:spPr>
          <a:xfrm>
            <a:off x="2801422" y="4792385"/>
            <a:ext cx="2156103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Staff Requirements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1364099" y="5146000"/>
            <a:ext cx="3593425" cy="51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Hire and retain engineers for ongoing maintenance and support</a:t>
            </a:r>
            <a:endParaRPr lang="en-US" sz="14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2321" y="2035016"/>
            <a:ext cx="4165640" cy="4165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985034" y="4784646"/>
            <a:ext cx="274201" cy="342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2150" dirty="0"/>
          </a:p>
        </p:txBody>
      </p:sp>
      <p:sp>
        <p:nvSpPr>
          <p:cNvPr id="20" name="Shape 14"/>
          <p:cNvSpPr/>
          <p:nvPr/>
        </p:nvSpPr>
        <p:spPr>
          <a:xfrm>
            <a:off x="1364099" y="6358414"/>
            <a:ext cx="11902083" cy="1330881"/>
          </a:xfrm>
          <a:prstGeom prst="roundRect">
            <a:avLst>
              <a:gd name="adj" fmla="val 2066"/>
            </a:avLst>
          </a:prstGeom>
          <a:solidFill>
            <a:srgbClr val="4B3F0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336" y="6561534"/>
            <a:ext cx="269438" cy="21550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000012" y="6544389"/>
            <a:ext cx="2156103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Scaling Challenge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2000012" y="6954083"/>
            <a:ext cx="11082933" cy="51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When traffic suddenly increases, companies must purchase new hardware, configure systems, and wait days or weeks before additional capacity is available. This creates bottlenecks during peak demand.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068" y="581620"/>
            <a:ext cx="9807893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Problems with On-Premises Infrastructure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733068" y="1564005"/>
            <a:ext cx="13164264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Traditional infrastructure presents several operational and financial challenges that limit business agility and growth potential.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3068" y="2398276"/>
            <a:ext cx="4265890" cy="2116098"/>
          </a:xfrm>
          <a:prstGeom prst="roundRect">
            <a:avLst>
              <a:gd name="adj" fmla="val 5185"/>
            </a:avLst>
          </a:prstGeom>
          <a:solidFill>
            <a:srgbClr val="2528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068" y="2375416"/>
            <a:ext cx="4265890" cy="9144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807" y="2084189"/>
            <a:ext cx="628293" cy="6282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0283" y="2241233"/>
            <a:ext cx="25134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965359" y="2921913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 Upfront Costs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965359" y="3339822"/>
            <a:ext cx="3801308" cy="942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Significant capital expenditure required for hardware purchases, facility setup, and initial deployment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182195" y="2398276"/>
            <a:ext cx="4265890" cy="2116098"/>
          </a:xfrm>
          <a:prstGeom prst="roundRect">
            <a:avLst>
              <a:gd name="adj" fmla="val 5185"/>
            </a:avLst>
          </a:prstGeom>
          <a:solidFill>
            <a:srgbClr val="25283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195" y="2375416"/>
            <a:ext cx="4265890" cy="9144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935" y="2084189"/>
            <a:ext cx="628293" cy="62829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89410" y="2241233"/>
            <a:ext cx="25134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5414486" y="2921913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Slow Scaling Process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5414486" y="3339822"/>
            <a:ext cx="3801308" cy="942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Adding capacity takes days or weeks due to procurement, installation, and configuration requirements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9631323" y="2398276"/>
            <a:ext cx="4266009" cy="2116098"/>
          </a:xfrm>
          <a:prstGeom prst="roundRect">
            <a:avLst>
              <a:gd name="adj" fmla="val 5185"/>
            </a:avLst>
          </a:prstGeom>
          <a:solidFill>
            <a:srgbClr val="252833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1323" y="2375416"/>
            <a:ext cx="4266009" cy="9144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50181" y="2084189"/>
            <a:ext cx="628293" cy="62829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638657" y="2241233"/>
            <a:ext cx="25134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950" dirty="0"/>
          </a:p>
        </p:txBody>
      </p:sp>
      <p:sp>
        <p:nvSpPr>
          <p:cNvPr id="20" name="Text 12"/>
          <p:cNvSpPr/>
          <p:nvPr/>
        </p:nvSpPr>
        <p:spPr>
          <a:xfrm>
            <a:off x="9863614" y="2921913"/>
            <a:ext cx="266592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Maintenance Overhead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9863614" y="3339822"/>
            <a:ext cx="3801428" cy="942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Ongoing hardware maintenance, software updates, and system monitoring consume valuable IT resources</a:t>
            </a:r>
            <a:endParaRPr lang="en-US" sz="1600" dirty="0"/>
          </a:p>
        </p:txBody>
      </p:sp>
      <p:sp>
        <p:nvSpPr>
          <p:cNvPr id="22" name="Shape 14"/>
          <p:cNvSpPr/>
          <p:nvPr/>
        </p:nvSpPr>
        <p:spPr>
          <a:xfrm>
            <a:off x="733068" y="5011698"/>
            <a:ext cx="6490454" cy="1802011"/>
          </a:xfrm>
          <a:prstGeom prst="roundRect">
            <a:avLst>
              <a:gd name="adj" fmla="val 6089"/>
            </a:avLst>
          </a:prstGeom>
          <a:solidFill>
            <a:srgbClr val="252833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068" y="4988838"/>
            <a:ext cx="6490454" cy="91440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4089" y="4697611"/>
            <a:ext cx="628293" cy="628293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852565" y="4854654"/>
            <a:ext cx="25134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950" dirty="0"/>
          </a:p>
        </p:txBody>
      </p:sp>
      <p:sp>
        <p:nvSpPr>
          <p:cNvPr id="26" name="Text 16"/>
          <p:cNvSpPr/>
          <p:nvPr/>
        </p:nvSpPr>
        <p:spPr>
          <a:xfrm>
            <a:off x="965359" y="5535335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Downtime Risks</a:t>
            </a:r>
            <a:endParaRPr lang="en-US" sz="1900" dirty="0"/>
          </a:p>
        </p:txBody>
      </p:sp>
      <p:sp>
        <p:nvSpPr>
          <p:cNvPr id="27" name="Text 17"/>
          <p:cNvSpPr/>
          <p:nvPr/>
        </p:nvSpPr>
        <p:spPr>
          <a:xfrm>
            <a:off x="965359" y="5953244"/>
            <a:ext cx="6025872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Hardware failures cause service interruptions without expensive redundant systems and backup infrastructure</a:t>
            </a:r>
            <a:endParaRPr lang="en-US" sz="1600" dirty="0"/>
          </a:p>
        </p:txBody>
      </p:sp>
      <p:sp>
        <p:nvSpPr>
          <p:cNvPr id="28" name="Shape 18"/>
          <p:cNvSpPr/>
          <p:nvPr/>
        </p:nvSpPr>
        <p:spPr>
          <a:xfrm>
            <a:off x="7406759" y="5011698"/>
            <a:ext cx="6490573" cy="1802011"/>
          </a:xfrm>
          <a:prstGeom prst="roundRect">
            <a:avLst>
              <a:gd name="adj" fmla="val 6089"/>
            </a:avLst>
          </a:prstGeom>
          <a:solidFill>
            <a:srgbClr val="252833"/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6759" y="4988838"/>
            <a:ext cx="6490573" cy="91440"/>
          </a:xfrm>
          <a:prstGeom prst="rect">
            <a:avLst/>
          </a:prstGeom>
        </p:spPr>
      </p:pic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37899" y="4697611"/>
            <a:ext cx="628293" cy="628293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10526375" y="4854654"/>
            <a:ext cx="25134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1950" dirty="0"/>
          </a:p>
        </p:txBody>
      </p:sp>
      <p:sp>
        <p:nvSpPr>
          <p:cNvPr id="32" name="Text 20"/>
          <p:cNvSpPr/>
          <p:nvPr/>
        </p:nvSpPr>
        <p:spPr>
          <a:xfrm>
            <a:off x="7639050" y="5535335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Dedicated Teams</a:t>
            </a:r>
            <a:endParaRPr lang="en-US" sz="1900" dirty="0"/>
          </a:p>
        </p:txBody>
      </p:sp>
      <p:sp>
        <p:nvSpPr>
          <p:cNvPr id="33" name="Text 21"/>
          <p:cNvSpPr/>
          <p:nvPr/>
        </p:nvSpPr>
        <p:spPr>
          <a:xfrm>
            <a:off x="7639050" y="5953244"/>
            <a:ext cx="6025991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Requires specialized staff for 24/7 operations, security management, and technical support</a:t>
            </a:r>
            <a:endParaRPr lang="en-US" sz="1600" dirty="0"/>
          </a:p>
        </p:txBody>
      </p:sp>
      <p:sp>
        <p:nvSpPr>
          <p:cNvPr id="34" name="Text 22"/>
          <p:cNvSpPr/>
          <p:nvPr/>
        </p:nvSpPr>
        <p:spPr>
          <a:xfrm>
            <a:off x="733068" y="7019806"/>
            <a:ext cx="13164264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Additional concerns include resource wastage during low usage periods, limited flexibility to adapt to changing needs, and complex disaster recovery planning.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447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58" y="179427"/>
            <a:ext cx="5247084" cy="78706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4124" y="2108121"/>
            <a:ext cx="702945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is Cloud Computing?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324124" y="3171111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 computing is the delivery of computing resources—servers, storage, databases, networking, software, analytics, and intelligence—over the internet on a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pay-as-you-go basis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24124" y="4589383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Instead of owning and maintaining physical infrastructure, organizations rent computing resources from cloud service providers. This fundamental shift transforms IT from a capital-intensive asset to an operational expense that scales with business needs.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982986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Real-Life Analogy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3165753"/>
            <a:ext cx="6477476" cy="9575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039" y="4362569"/>
            <a:ext cx="289774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Old Way: Buying a Car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77039" y="4858107"/>
            <a:ext cx="599884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Large upfront investment, ongoing maintenance costs, insurance, parking, and depreciation. You own it but pay whether you drive daily or rarely.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165753"/>
            <a:ext cx="6477476" cy="9575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54516" y="4362569"/>
            <a:ext cx="309395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Cloud: Booking an Uber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54516" y="4858107"/>
            <a:ext cx="599884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Pay only when you need it, no maintenance responsibility, always access to latest vehicles, and flexible usage based on demand.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971" y="648533"/>
            <a:ext cx="6527602" cy="604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Benefits of Cloud Computing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971" y="1606987"/>
            <a:ext cx="514231" cy="5142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971" y="2342198"/>
            <a:ext cx="3020854" cy="302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Hardware Maintenance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19971" y="2750701"/>
            <a:ext cx="6484739" cy="61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 providers handle physical infrastructure, hardware upgrades, and facility management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5690" y="1606987"/>
            <a:ext cx="514231" cy="5142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25690" y="2342198"/>
            <a:ext cx="2420183" cy="302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 Scalability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7425690" y="2750701"/>
            <a:ext cx="6484739" cy="61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Auto-scaling adjusts resources instantly based on traffic, from zero to thousands of servers in minutes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971" y="3716179"/>
            <a:ext cx="514231" cy="5142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9971" y="4451390"/>
            <a:ext cx="2420183" cy="302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Cost-Efficient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719971" y="4859893"/>
            <a:ext cx="6484739" cy="61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Convert capital expenses to operational costs, pay only for what you use, and eliminate idle resources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5690" y="3716179"/>
            <a:ext cx="514231" cy="51423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25690" y="4451390"/>
            <a:ext cx="2420183" cy="302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 Availability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7425690" y="4859893"/>
            <a:ext cx="6484739" cy="61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Global infrastructure with redundancy ensures 99.9% uptime and minimal service disruption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9971" y="5825371"/>
            <a:ext cx="514231" cy="51423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9971" y="6560582"/>
            <a:ext cx="2420183" cy="302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Faster Deployments</a:t>
            </a:r>
            <a:endParaRPr lang="en-US" sz="1900" dirty="0"/>
          </a:p>
        </p:txBody>
      </p:sp>
      <p:sp>
        <p:nvSpPr>
          <p:cNvPr id="17" name="Text 10"/>
          <p:cNvSpPr/>
          <p:nvPr/>
        </p:nvSpPr>
        <p:spPr>
          <a:xfrm>
            <a:off x="719971" y="6969085"/>
            <a:ext cx="6484739" cy="61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Launch new services in minutes instead of weeks, accelerating time-to-market for applications</a:t>
            </a:r>
            <a:endParaRPr lang="en-US" sz="16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25690" y="5825371"/>
            <a:ext cx="514231" cy="51423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25690" y="6560582"/>
            <a:ext cx="2420183" cy="302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Disaster Recovery</a:t>
            </a:r>
            <a:endParaRPr lang="en-US" sz="1900" dirty="0"/>
          </a:p>
        </p:txBody>
      </p:sp>
      <p:sp>
        <p:nvSpPr>
          <p:cNvPr id="20" name="Text 12"/>
          <p:cNvSpPr/>
          <p:nvPr/>
        </p:nvSpPr>
        <p:spPr>
          <a:xfrm>
            <a:off x="7425690" y="6969085"/>
            <a:ext cx="6484739" cy="61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Built-in redundancy and automated backups across multiple geographic locations ensure data protection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4447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62" y="117634"/>
            <a:ext cx="5329476" cy="7994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36112" y="451128"/>
            <a:ext cx="6428423" cy="462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Cloud Providers &amp; Market Leadership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036112" y="1067753"/>
            <a:ext cx="8044577" cy="1389102"/>
          </a:xfrm>
          <a:prstGeom prst="roundRect">
            <a:avLst>
              <a:gd name="adj" fmla="val 1696"/>
            </a:avLst>
          </a:prstGeom>
          <a:solidFill>
            <a:srgbClr val="444752"/>
          </a:solidFill>
          <a:ln/>
        </p:spPr>
      </p:sp>
      <p:sp>
        <p:nvSpPr>
          <p:cNvPr id="6" name="Shape 3"/>
          <p:cNvSpPr/>
          <p:nvPr/>
        </p:nvSpPr>
        <p:spPr>
          <a:xfrm>
            <a:off x="6193155" y="1224796"/>
            <a:ext cx="471249" cy="471249"/>
          </a:xfrm>
          <a:prstGeom prst="roundRect">
            <a:avLst>
              <a:gd name="adj" fmla="val 19401814"/>
            </a:avLst>
          </a:prstGeom>
          <a:solidFill>
            <a:srgbClr val="D6E5E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695" y="1354336"/>
            <a:ext cx="212050" cy="212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93155" y="1799034"/>
            <a:ext cx="1885831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Amazon Web Services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193155" y="2091809"/>
            <a:ext cx="7730490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Market leader with the most comprehensive service portfolio and global infrastructure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036112" y="2559844"/>
            <a:ext cx="8044577" cy="1389102"/>
          </a:xfrm>
          <a:prstGeom prst="roundRect">
            <a:avLst>
              <a:gd name="adj" fmla="val 1696"/>
            </a:avLst>
          </a:prstGeom>
          <a:solidFill>
            <a:srgbClr val="444752"/>
          </a:solidFill>
          <a:ln/>
        </p:spPr>
      </p:sp>
      <p:sp>
        <p:nvSpPr>
          <p:cNvPr id="11" name="Shape 7"/>
          <p:cNvSpPr/>
          <p:nvPr/>
        </p:nvSpPr>
        <p:spPr>
          <a:xfrm>
            <a:off x="6193155" y="2716887"/>
            <a:ext cx="471249" cy="471249"/>
          </a:xfrm>
          <a:prstGeom prst="roundRect">
            <a:avLst>
              <a:gd name="adj" fmla="val 19401814"/>
            </a:avLst>
          </a:prstGeom>
          <a:solidFill>
            <a:srgbClr val="D6E5E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2695" y="2846427"/>
            <a:ext cx="212050" cy="2120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93155" y="3291126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Microsoft Azure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6193155" y="3583900"/>
            <a:ext cx="7730490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Strong integration with Microsoft products, growing rapidly in enterprise adoption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036112" y="4051935"/>
            <a:ext cx="8044577" cy="1389102"/>
          </a:xfrm>
          <a:prstGeom prst="roundRect">
            <a:avLst>
              <a:gd name="adj" fmla="val 1696"/>
            </a:avLst>
          </a:prstGeom>
          <a:solidFill>
            <a:srgbClr val="444752"/>
          </a:solidFill>
          <a:ln/>
        </p:spPr>
      </p:sp>
      <p:sp>
        <p:nvSpPr>
          <p:cNvPr id="16" name="Shape 11"/>
          <p:cNvSpPr/>
          <p:nvPr/>
        </p:nvSpPr>
        <p:spPr>
          <a:xfrm>
            <a:off x="6193155" y="4208978"/>
            <a:ext cx="471249" cy="471249"/>
          </a:xfrm>
          <a:prstGeom prst="roundRect">
            <a:avLst>
              <a:gd name="adj" fmla="val 19401814"/>
            </a:avLst>
          </a:prstGeom>
          <a:solidFill>
            <a:srgbClr val="D6E5E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22695" y="4338518"/>
            <a:ext cx="212050" cy="2120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93155" y="4783217"/>
            <a:ext cx="1960959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Google Cloud Platform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193155" y="5075992"/>
            <a:ext cx="7730490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Leading in data analytics, machine learning, and developer-friendly tools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036112" y="5544026"/>
            <a:ext cx="8044577" cy="1389102"/>
          </a:xfrm>
          <a:prstGeom prst="roundRect">
            <a:avLst>
              <a:gd name="adj" fmla="val 1696"/>
            </a:avLst>
          </a:prstGeom>
          <a:solidFill>
            <a:srgbClr val="444752"/>
          </a:solidFill>
          <a:ln/>
        </p:spPr>
      </p:sp>
      <p:sp>
        <p:nvSpPr>
          <p:cNvPr id="21" name="Shape 15"/>
          <p:cNvSpPr/>
          <p:nvPr/>
        </p:nvSpPr>
        <p:spPr>
          <a:xfrm>
            <a:off x="6193155" y="5701070"/>
            <a:ext cx="471249" cy="471249"/>
          </a:xfrm>
          <a:prstGeom prst="roundRect">
            <a:avLst>
              <a:gd name="adj" fmla="val 19401814"/>
            </a:avLst>
          </a:prstGeom>
          <a:solidFill>
            <a:srgbClr val="D6E5E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22695" y="5830610"/>
            <a:ext cx="212050" cy="2120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193155" y="6275308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Alibaba Cloud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6193155" y="6568083"/>
            <a:ext cx="7730490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Dominant player in Asia with expanding global presence and competitive pricing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036112" y="7049095"/>
            <a:ext cx="8044577" cy="729377"/>
          </a:xfrm>
          <a:prstGeom prst="roundRect">
            <a:avLst>
              <a:gd name="adj" fmla="val 3231"/>
            </a:avLst>
          </a:prstGeom>
          <a:solidFill>
            <a:srgbClr val="022349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3155" y="7260193"/>
            <a:ext cx="196334" cy="15704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546533" y="7191256"/>
            <a:ext cx="7377113" cy="416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Market Insight: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AWS maintains approximately 30% market share, followed by Azure (~22%) and GCP (~10%). The cloud market continues to grow at 20%+ annually as organizations accelerate digital transformation.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54524"/>
            <a:ext cx="624840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Types of Cloud Services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137291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IaaS, PaaS, SaaS Explained Simply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2789515"/>
            <a:ext cx="1295495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 computing offers different service models based on how much responsibility you want. Think of it like renting a place to live - you can rent an empty apartment (IaaS), a furnished apartment (PaaS), or a hotel room (SaaS). Each model gives you different levels of control and convenience.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447103"/>
            <a:ext cx="3928586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IaaS: Infrastructure as a Service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7724" y="5390317"/>
            <a:ext cx="39285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 manage applications &amp; data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5357813" y="4447103"/>
            <a:ext cx="349353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PaaS: Platform as a Service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57813" y="5038368"/>
            <a:ext cx="39285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 manage applications only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9877901" y="4447103"/>
            <a:ext cx="353044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SaaS: Software as a Service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877901" y="5038368"/>
            <a:ext cx="39285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Provider manages everything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837724" y="6257925"/>
            <a:ext cx="12954952" cy="1017151"/>
          </a:xfrm>
          <a:prstGeom prst="roundRect">
            <a:avLst>
              <a:gd name="adj" fmla="val 3530"/>
            </a:avLst>
          </a:prstGeom>
          <a:solidFill>
            <a:srgbClr val="022349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039" y="6606659"/>
            <a:ext cx="299204" cy="23931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15559" y="6557010"/>
            <a:ext cx="1193780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right model depends on your needs, expertise, and how much control you want.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5543" y="550307"/>
            <a:ext cx="8144827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is IaaS (Infrastructure as a Service)?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485543" y="1347549"/>
            <a:ext cx="11659195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IaaS provides virtualized computing resources over the internet. You rent servers, storage, and networking - like renting an empty apartment where you design and furnish everything yourself.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485543" y="2136219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You Control: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485543" y="2534722"/>
            <a:ext cx="5610582" cy="1444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Applications</a:t>
            </a:r>
            <a:endParaRPr lang="en-US" sz="14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</a:t>
            </a:r>
            <a:endParaRPr lang="en-US" sz="14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Runtime environment</a:t>
            </a:r>
            <a:endParaRPr lang="en-US" sz="14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Middleware</a:t>
            </a:r>
            <a:endParaRPr lang="en-US" sz="14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Operating 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541657" y="2136219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Provider Controls: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541657" y="2534722"/>
            <a:ext cx="5610582" cy="1444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Virtualization</a:t>
            </a:r>
            <a:endParaRPr lang="en-US" sz="14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Servers</a:t>
            </a:r>
            <a:endParaRPr lang="en-US" sz="14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Storage</a:t>
            </a:r>
            <a:endParaRPr lang="en-US" sz="14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Networking</a:t>
            </a:r>
            <a:endParaRPr lang="en-US" sz="14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Physical infrastructure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85543" y="4228505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Real-World Example: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85543" y="4694396"/>
            <a:ext cx="11659195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AWS EC2 - You get a blank virtual server. You install your own operating system, databases, and applications. Maximum control, maximum responsibility.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85543" y="5147667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Real-Life Analogy: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85543" y="5613559"/>
            <a:ext cx="11659195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Like renting an empty house - you own the furniture, decor, and everything inside. You're responsible for maintenance and setup.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85543" y="6066830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 Cases: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485543" y="6532721"/>
            <a:ext cx="11659195" cy="1146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 application development</a:t>
            </a:r>
            <a:endParaRPr lang="en-US" sz="14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DevOps and automation</a:t>
            </a:r>
            <a:endParaRPr lang="en-US" sz="14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control over infrastructure</a:t>
            </a:r>
            <a:endParaRPr lang="en-US" sz="14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Complex enterprise setups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49874" y="475417"/>
            <a:ext cx="6731318" cy="494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is PaaS (Platform as a Service)?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849874" y="1206937"/>
            <a:ext cx="10930533" cy="45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PaaS provides a complete development and deployment environment in the cloud. Like renting a fully furnished apartment - everything is ready, you just need to move in and use it.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849874" y="1916906"/>
            <a:ext cx="198012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You Control: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849874" y="2282547"/>
            <a:ext cx="5259943" cy="499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Applications</a:t>
            </a:r>
            <a:endParaRPr lang="en-US" sz="13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27965" y="1916906"/>
            <a:ext cx="198012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Provider Controls: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27965" y="2282547"/>
            <a:ext cx="5259943" cy="1853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Runtime environment</a:t>
            </a:r>
            <a:endParaRPr lang="en-US" sz="13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Middleware</a:t>
            </a:r>
            <a:endParaRPr lang="en-US" sz="13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Operating System</a:t>
            </a:r>
            <a:endParaRPr lang="en-US" sz="13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Virtualization</a:t>
            </a:r>
            <a:endParaRPr lang="en-US" sz="13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Servers</a:t>
            </a:r>
            <a:endParaRPr lang="en-US" sz="13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Storage</a:t>
            </a:r>
            <a:endParaRPr lang="en-US" sz="13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49874" y="4354354"/>
            <a:ext cx="198012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Real-World Example: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849874" y="4779169"/>
            <a:ext cx="10930533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Azure App Service - You write your code, upload it, and the platform handles deployment, scaling, and infrastructure. Focus on coding, not infrastructure.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49874" y="5185886"/>
            <a:ext cx="198012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Real-Life Analogy: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849874" y="5610701"/>
            <a:ext cx="10930533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Like renting a fully furnished apartment - everything is ready to use. You just bring your belongings and live there. Less responsibility, more convenience.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49874" y="6017419"/>
            <a:ext cx="198012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 Cases: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849874" y="6442234"/>
            <a:ext cx="10930533" cy="1311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Rapid application development</a:t>
            </a:r>
            <a:endParaRPr lang="en-US" sz="13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 application hosting</a:t>
            </a:r>
            <a:endParaRPr lang="en-US" sz="13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API development and management</a:t>
            </a:r>
            <a:endParaRPr lang="en-US" sz="13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Microservices architecture</a:t>
            </a:r>
            <a:endParaRPr lang="en-US" sz="13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Faster time-to-market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57212" y="531971"/>
            <a:ext cx="6024682" cy="440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is SaaS (Software as a Service)?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457212" y="1158954"/>
            <a:ext cx="9715976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SaaS delivers fully managed applications over the internet. You access software through a web browser - like staying in a hotel where everything is provided and managed for you.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2457212" y="1746647"/>
            <a:ext cx="1760101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You Control: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457212" y="2060019"/>
            <a:ext cx="4675465" cy="421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accounts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(sometimes)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505343" y="1746647"/>
            <a:ext cx="1760101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Provider Controls: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505343" y="2060019"/>
            <a:ext cx="4675465" cy="2011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Applications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management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Runtime environment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Middleware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Operating System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Virtualization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Servers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Storage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Networking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57212" y="4244816"/>
            <a:ext cx="1793081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Real-World Examples: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457212" y="4604980"/>
            <a:ext cx="971597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Gmail - Check email from any browser. No installation, no maintenance. Google handles everything.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457212" y="4904661"/>
            <a:ext cx="971597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Salesforce - CRM software accessible online. No servers to manage.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57212" y="5204341"/>
            <a:ext cx="971597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Google Docs - Create documents online. Automatic saving and sharing.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57212" y="5539145"/>
            <a:ext cx="1760101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Real-Life Analogy: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457212" y="5899309"/>
            <a:ext cx="9715976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Like staying in a hotel - everything is provided and managed. You just check in, use the services, and check out. Zero responsibility for maintenance.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57212" y="6234113"/>
            <a:ext cx="1760101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 Cases: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457212" y="6594277"/>
            <a:ext cx="9715976" cy="1103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Email and communication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Productivity tools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CRM and business applications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Collaboration platforms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IT expertise needed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49874" y="558284"/>
            <a:ext cx="7745849" cy="494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Takeaways: Choosing the Right Model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849874" y="1289804"/>
            <a:ext cx="10930533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Understanding the differences between IaaS, PaaS, and SaaS is crucial for selecting the cloud solution that best fits your needs.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49874" y="1652230"/>
            <a:ext cx="420767" cy="4207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49874" y="2220873"/>
            <a:ext cx="198012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Maximum Control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849874" y="2539246"/>
            <a:ext cx="10930533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 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Best For: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Developers who need full control over infrastructure</a:t>
            </a:r>
            <a:endParaRPr lang="en-US" sz="13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 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Example: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AWS EC2, Microsoft Azure VMs</a:t>
            </a:r>
            <a:endParaRPr lang="en-US" sz="13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 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Remember: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"You manage everything except the physical hardware"         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49874" y="3463766"/>
            <a:ext cx="420767" cy="420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49874" y="4032409"/>
            <a:ext cx="1980128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Balanced Approach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849874" y="4350782"/>
            <a:ext cx="10930533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 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Best For: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Web developers who want to focus on coding</a:t>
            </a:r>
            <a:endParaRPr lang="en-US" sz="13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 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Example: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Heroku, Google App Engine</a:t>
            </a:r>
            <a:endParaRPr lang="en-US" sz="13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 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Remember: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"Provider handles infrastructure, you handle applications"         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49874" y="5275302"/>
            <a:ext cx="420767" cy="42076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49874" y="5843945"/>
            <a:ext cx="2160389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Maximum Convenience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849874" y="6162318"/>
            <a:ext cx="10930533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 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Best For: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Business users who want ready-to-use applications</a:t>
            </a:r>
            <a:endParaRPr lang="en-US" sz="13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 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Example: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Gmail, Salesforce, Slack</a:t>
            </a:r>
            <a:endParaRPr lang="en-US" sz="13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  </a:t>
            </a:r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Remember: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"Provider handles everything, you just use it"         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849874" y="6983373"/>
            <a:ext cx="10930533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</a:t>
            </a:r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Choose IaaS if you need maximum control and flexibility.</a:t>
            </a:r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</a:t>
            </a:r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Choose PaaS if you want to focus on development.</a:t>
            </a:r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</a:t>
            </a:r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Choose SaaS if you want simplicity and ease of use.</a:t>
            </a:r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48690"/>
            <a:ext cx="591383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Companies Using AWS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13145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Leading global enterprises trust AWS for mission-critical workloads, demonstrating reliability at scale.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783681"/>
            <a:ext cx="2170271" cy="21702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7724" y="525315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Netflix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37724" y="5748695"/>
            <a:ext cx="3014305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Streams billions of hours monthly using AWS infrastructure for content delivery and analytics</a:t>
            </a:r>
            <a:endParaRPr lang="en-US" sz="1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233" y="2783681"/>
            <a:ext cx="2170271" cy="217027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51233" y="525315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Airbnb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151233" y="5748695"/>
            <a:ext cx="3014305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Manages millions of listings and bookings with AWS's scalable platform and global reach</a:t>
            </a:r>
            <a:endParaRPr lang="en-US" sz="1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743" y="2783681"/>
            <a:ext cx="2170271" cy="217027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64743" y="525315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Snap Inc.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464743" y="5748695"/>
            <a:ext cx="30143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Processes billions of messages and AR filters daily on AWS infrastructure</a:t>
            </a:r>
            <a:endParaRPr lang="en-US" sz="18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8252" y="2783681"/>
            <a:ext cx="2170271" cy="217027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78252" y="525315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Meta Platforms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778252" y="5748695"/>
            <a:ext cx="3014424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Runs Facebook, Instagram, and WhatsApp services leveraging AWS for various workloads</a:t>
            </a:r>
            <a:endParaRPr lang="en-US" sz="1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80517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463284"/>
            <a:ext cx="6357818" cy="2123242"/>
          </a:xfrm>
          <a:prstGeom prst="roundRect">
            <a:avLst>
              <a:gd name="adj" fmla="val 1691"/>
            </a:avLst>
          </a:prstGeom>
          <a:solidFill>
            <a:srgbClr val="444752"/>
          </a:solidFill>
          <a:ln/>
        </p:spPr>
      </p:sp>
      <p:sp>
        <p:nvSpPr>
          <p:cNvPr id="4" name="Text 2"/>
          <p:cNvSpPr/>
          <p:nvPr/>
        </p:nvSpPr>
        <p:spPr>
          <a:xfrm>
            <a:off x="1077039" y="2702600"/>
            <a:ext cx="5879187" cy="140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Cost Optimization </a:t>
            </a:r>
            <a:endParaRPr lang="en-US" sz="2200" dirty="0"/>
          </a:p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Cloud converts large upfront  expenses into predictable operational costs, improving cash flow and budgeting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34858" y="2463284"/>
            <a:ext cx="6357818" cy="2123242"/>
          </a:xfrm>
          <a:prstGeom prst="roundRect">
            <a:avLst>
              <a:gd name="adj" fmla="val 1691"/>
            </a:avLst>
          </a:prstGeom>
          <a:solidFill>
            <a:srgbClr val="444752"/>
          </a:solidFill>
          <a:ln/>
        </p:spPr>
      </p:sp>
      <p:sp>
        <p:nvSpPr>
          <p:cNvPr id="6" name="Text 4"/>
          <p:cNvSpPr/>
          <p:nvPr/>
        </p:nvSpPr>
        <p:spPr>
          <a:xfrm>
            <a:off x="7674173" y="270260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74173" y="3198138"/>
            <a:ext cx="58791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Resources scale automatically with demand, eliminating capacity planning challenges and hardware procurement delays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837724" y="4825841"/>
            <a:ext cx="6357818" cy="2123242"/>
          </a:xfrm>
          <a:prstGeom prst="roundRect">
            <a:avLst>
              <a:gd name="adj" fmla="val 1691"/>
            </a:avLst>
          </a:prstGeom>
          <a:solidFill>
            <a:srgbClr val="444752"/>
          </a:solidFill>
          <a:ln/>
        </p:spPr>
      </p:sp>
      <p:sp>
        <p:nvSpPr>
          <p:cNvPr id="9" name="Text 7"/>
          <p:cNvSpPr/>
          <p:nvPr/>
        </p:nvSpPr>
        <p:spPr>
          <a:xfrm>
            <a:off x="1077039" y="5065157"/>
            <a:ext cx="293179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Operational Efficiency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7039" y="5560695"/>
            <a:ext cx="58791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 teams focus on innovation rather than infrastructure maintenance, accelerating development and deployment cycles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7434858" y="4825841"/>
            <a:ext cx="6357818" cy="2123242"/>
          </a:xfrm>
          <a:prstGeom prst="roundRect">
            <a:avLst>
              <a:gd name="adj" fmla="val 1691"/>
            </a:avLst>
          </a:prstGeom>
          <a:solidFill>
            <a:srgbClr val="444752"/>
          </a:solidFill>
          <a:ln/>
        </p:spPr>
      </p:sp>
      <p:sp>
        <p:nvSpPr>
          <p:cNvPr id="12" name="Text 10"/>
          <p:cNvSpPr/>
          <p:nvPr/>
        </p:nvSpPr>
        <p:spPr>
          <a:xfrm>
            <a:off x="7674173" y="506515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Global Reach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74173" y="5560695"/>
            <a:ext cx="58791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 applications worldwide with low latency using cloud provider's distributed data centers and CDN networks</a:t>
            </a:r>
            <a:endParaRPr lang="en-US" sz="1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0099" y="475178"/>
            <a:ext cx="5531168" cy="418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Types of Cloud Deployment Models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700099" y="1061918"/>
            <a:ext cx="9230201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Public, Private, and Hybrid Cloud Explained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0099" y="1432917"/>
            <a:ext cx="22860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00099" y="3813810"/>
            <a:ext cx="2006560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Public Cloud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2700099" y="4148852"/>
            <a:ext cx="2845237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Point: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Shared Infrastructure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00099" y="4405908"/>
            <a:ext cx="2845237" cy="543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Computing resources shared by multiple organizations. You access services over the internet on a pay-as-you-go basis.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00099" y="5025390"/>
            <a:ext cx="2845237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Example: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AWS, Microsoft Azure, Google Cloud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913221" y="5301496"/>
            <a:ext cx="2632115" cy="362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Like staying in a hotel - shared facilities, managed by provider, cost-effective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00099" y="5301496"/>
            <a:ext cx="15240" cy="362426"/>
          </a:xfrm>
          <a:prstGeom prst="rect">
            <a:avLst/>
          </a:prstGeom>
          <a:solidFill>
            <a:srgbClr val="F98AC7"/>
          </a:solidFill>
          <a:ln/>
        </p:spPr>
      </p:sp>
      <p:sp>
        <p:nvSpPr>
          <p:cNvPr id="11" name="Text 8"/>
          <p:cNvSpPr/>
          <p:nvPr/>
        </p:nvSpPr>
        <p:spPr>
          <a:xfrm>
            <a:off x="2700099" y="5758815"/>
            <a:ext cx="2845237" cy="362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Best For: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Startups, small businesses, cost-conscious organizations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00099" y="6197084"/>
            <a:ext cx="2845237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Characteristics: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00099" y="6454140"/>
            <a:ext cx="2845237" cy="813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Most cost-effective</a:t>
            </a:r>
            <a:endParaRPr lang="en-US" sz="110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Highly scalable</a:t>
            </a:r>
            <a:endParaRPr lang="en-US" sz="110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Limited customization</a:t>
            </a:r>
            <a:endParaRPr lang="en-US" sz="110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Shared security responsibility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666" y="1432917"/>
            <a:ext cx="2286000" cy="22860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99666" y="3813810"/>
            <a:ext cx="2006560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Private Cloud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5899666" y="4148852"/>
            <a:ext cx="2845237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Point: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Dedicated Infrastructure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899666" y="4405908"/>
            <a:ext cx="2845237" cy="543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Computing resources dedicated exclusively to a single organization. Hosted on-premises or by a third-party provider.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899666" y="5025390"/>
            <a:ext cx="2845237" cy="362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Example: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VMware, OpenStack, Microsoft Azure Stack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112788" y="5482709"/>
            <a:ext cx="2632115" cy="362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Like owning your own house - exclusive, full control, higher maintenance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899666" y="5482709"/>
            <a:ext cx="15240" cy="362426"/>
          </a:xfrm>
          <a:prstGeom prst="rect">
            <a:avLst/>
          </a:prstGeom>
          <a:solidFill>
            <a:srgbClr val="F98AC7"/>
          </a:solidFill>
          <a:ln/>
        </p:spPr>
      </p:sp>
      <p:sp>
        <p:nvSpPr>
          <p:cNvPr id="21" name="Text 17"/>
          <p:cNvSpPr/>
          <p:nvPr/>
        </p:nvSpPr>
        <p:spPr>
          <a:xfrm>
            <a:off x="5899666" y="5940028"/>
            <a:ext cx="2845237" cy="362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Best For: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Large enterprises, regulated industries, security-sensitive organizations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899666" y="6378297"/>
            <a:ext cx="2845237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Characteristics: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899666" y="6635353"/>
            <a:ext cx="2845237" cy="813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Maximum control</a:t>
            </a:r>
            <a:endParaRPr lang="en-US" sz="110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Enhanced security</a:t>
            </a:r>
            <a:endParaRPr lang="en-US" sz="110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Higher costs</a:t>
            </a:r>
            <a:endParaRPr lang="en-US" sz="110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customization</a:t>
            </a:r>
            <a:endParaRPr lang="en-US" sz="11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9233" y="1432917"/>
            <a:ext cx="2286000" cy="22860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099233" y="3813810"/>
            <a:ext cx="2006560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Hybrid Cloud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9099233" y="4148852"/>
            <a:ext cx="2845237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Point: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Combination Model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9099233" y="4405908"/>
            <a:ext cx="2845237" cy="543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Mix of public and private cloud resources. Organizations use both for flexibility, scalability, and control.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9099233" y="5025390"/>
            <a:ext cx="2845237" cy="362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Example: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AWS Outposts, Azure Stack, Google Anthos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9312354" y="5482709"/>
            <a:ext cx="2632115" cy="362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Like having both a house and a hotel membership - flexibility and choice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9099233" y="5482709"/>
            <a:ext cx="15240" cy="362426"/>
          </a:xfrm>
          <a:prstGeom prst="rect">
            <a:avLst/>
          </a:prstGeom>
          <a:solidFill>
            <a:srgbClr val="F98AC7"/>
          </a:solidFill>
          <a:ln/>
        </p:spPr>
      </p:sp>
      <p:sp>
        <p:nvSpPr>
          <p:cNvPr id="31" name="Text 26"/>
          <p:cNvSpPr/>
          <p:nvPr/>
        </p:nvSpPr>
        <p:spPr>
          <a:xfrm>
            <a:off x="9099233" y="5940028"/>
            <a:ext cx="2845237" cy="362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Best For: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Enterprises needing flexibility, data-sensitive + scalable workloads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9099233" y="6378297"/>
            <a:ext cx="2845237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Characteristics: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9099233" y="6635353"/>
            <a:ext cx="2845237" cy="813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Best of both worlds</a:t>
            </a:r>
            <a:endParaRPr lang="en-US" sz="110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Flexible deployment</a:t>
            </a:r>
            <a:endParaRPr lang="en-US" sz="110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Complex management</a:t>
            </a:r>
            <a:endParaRPr lang="en-US" sz="110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Balanced cost and control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2700099" y="7573208"/>
            <a:ext cx="9230201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Choose Public Cloud for cost-efficiency, Private Cloud for security and control, or Hybrid Cloud for maximum flexibility.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2026-04-19T05:43:59Z</dcterms:created>
  <dcterms:modified xsi:type="dcterms:W3CDTF">2026-04-19T05:43:59Z</dcterms:modified>
</cp:coreProperties>
</file>